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14"/>
  </p:notesMasterIdLst>
  <p:sldIdLst>
    <p:sldId id="256" r:id="rId2"/>
    <p:sldId id="268" r:id="rId3"/>
    <p:sldId id="257" r:id="rId4"/>
    <p:sldId id="258" r:id="rId5"/>
    <p:sldId id="259" r:id="rId6"/>
    <p:sldId id="261" r:id="rId7"/>
    <p:sldId id="264" r:id="rId8"/>
    <p:sldId id="265" r:id="rId9"/>
    <p:sldId id="266" r:id="rId10"/>
    <p:sldId id="267" r:id="rId11"/>
    <p:sldId id="269" r:id="rId12"/>
    <p:sldId id="270" r:id="rId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D54D1-1F09-0783-7E68-EE9BD238C587}" v="340" dt="2025-12-18T20:42:29.652"/>
    <p1510:client id="{AAD0D27F-E0E8-CD97-0A8A-C32636ECC4BE}" v="23" dt="2025-12-18T13:46:15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E903B-1B31-4A8E-B8CA-65C6F2CFC6FF}" type="datetimeFigureOut">
              <a:t>18.12.2025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B2C43-C8A3-4ADD-BAD6-3E47EE094420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138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1. Ultimate Lap (Teoretyczne Okrążenie)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Co </a:t>
            </a:r>
            <a:r>
              <a:rPr lang="en-US" b="1" dirty="0" err="1"/>
              <a:t>liczymy</a:t>
            </a:r>
            <a:r>
              <a:rPr lang="en-US" b="1" dirty="0"/>
              <a:t>:</a:t>
            </a:r>
            <a:r>
              <a:rPr lang="en-US" dirty="0"/>
              <a:t> Suma </a:t>
            </a:r>
            <a:r>
              <a:rPr lang="en-US" dirty="0" err="1"/>
              <a:t>najlepszych</a:t>
            </a:r>
            <a:r>
              <a:rPr lang="en-US" dirty="0"/>
              <a:t> </a:t>
            </a:r>
            <a:r>
              <a:rPr lang="en-US" dirty="0" err="1"/>
              <a:t>czasów</a:t>
            </a:r>
            <a:r>
              <a:rPr lang="en-US" dirty="0"/>
              <a:t> z </a:t>
            </a:r>
            <a:r>
              <a:rPr lang="en-US" dirty="0" err="1"/>
              <a:t>trzech</a:t>
            </a:r>
            <a:r>
              <a:rPr lang="en-US" dirty="0"/>
              <a:t> </a:t>
            </a:r>
            <a:r>
              <a:rPr lang="en-US" dirty="0" err="1"/>
              <a:t>sektorów</a:t>
            </a:r>
            <a:r>
              <a:rPr lang="en-US" dirty="0"/>
              <a:t> (S1 + S2 + S3) </a:t>
            </a:r>
            <a:r>
              <a:rPr lang="en-US" dirty="0" err="1"/>
              <a:t>uzyskanych</a:t>
            </a:r>
            <a:r>
              <a:rPr lang="en-US" dirty="0"/>
              <a:t> </a:t>
            </a:r>
            <a:r>
              <a:rPr lang="en-US" dirty="0" err="1"/>
              <a:t>przez</a:t>
            </a:r>
            <a:r>
              <a:rPr lang="en-US" dirty="0"/>
              <a:t> </a:t>
            </a:r>
            <a:r>
              <a:rPr lang="en-US" dirty="0" err="1"/>
              <a:t>kierowcę</a:t>
            </a:r>
            <a:r>
              <a:rPr lang="en-US" dirty="0"/>
              <a:t> w </a:t>
            </a:r>
            <a:r>
              <a:rPr lang="en-US" dirty="0" err="1"/>
              <a:t>dowolnym</a:t>
            </a:r>
            <a:r>
              <a:rPr lang="en-US" dirty="0"/>
              <a:t> </a:t>
            </a:r>
            <a:r>
              <a:rPr lang="en-US" dirty="0" err="1"/>
              <a:t>momencie</a:t>
            </a:r>
            <a:r>
              <a:rPr lang="en-US" dirty="0"/>
              <a:t> </a:t>
            </a:r>
            <a:r>
              <a:rPr lang="en-US" dirty="0" err="1"/>
              <a:t>sesji</a:t>
            </a:r>
            <a:r>
              <a:rPr lang="en-US" dirty="0"/>
              <a:t>.</a:t>
            </a:r>
            <a:endParaRPr lang="pl-PL" dirty="0"/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Wartość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Pokazuje</a:t>
            </a:r>
            <a:r>
              <a:rPr lang="en-US" dirty="0"/>
              <a:t> </a:t>
            </a:r>
            <a:r>
              <a:rPr lang="en-US" dirty="0" err="1"/>
              <a:t>potencjał</a:t>
            </a:r>
            <a:r>
              <a:rPr lang="en-US" dirty="0"/>
              <a:t> </a:t>
            </a:r>
            <a:r>
              <a:rPr lang="en-US" dirty="0" err="1"/>
              <a:t>bolidu</a:t>
            </a:r>
            <a:r>
              <a:rPr lang="en-US" dirty="0"/>
              <a:t>, </a:t>
            </a:r>
            <a:r>
              <a:rPr lang="en-US" dirty="0" err="1"/>
              <a:t>którego</a:t>
            </a:r>
            <a:r>
              <a:rPr lang="en-US" dirty="0"/>
              <a:t> </a:t>
            </a:r>
            <a:r>
              <a:rPr lang="en-US" dirty="0" err="1"/>
              <a:t>kierowca</a:t>
            </a:r>
            <a:r>
              <a:rPr lang="en-US" dirty="0"/>
              <a:t>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zdołał</a:t>
            </a:r>
            <a:r>
              <a:rPr lang="en-US" dirty="0"/>
              <a:t> </a:t>
            </a:r>
            <a:r>
              <a:rPr lang="en-US" dirty="0" err="1"/>
              <a:t>złożyć</a:t>
            </a:r>
            <a:r>
              <a:rPr lang="en-US" dirty="0"/>
              <a:t> w </a:t>
            </a:r>
            <a:r>
              <a:rPr lang="en-US" dirty="0" err="1"/>
              <a:t>jednym</a:t>
            </a:r>
            <a:r>
              <a:rPr lang="en-US" dirty="0"/>
              <a:t> "</a:t>
            </a:r>
            <a:r>
              <a:rPr lang="en-US" dirty="0" err="1"/>
              <a:t>czystym</a:t>
            </a:r>
            <a:r>
              <a:rPr lang="en-US" dirty="0"/>
              <a:t>" </a:t>
            </a:r>
            <a:r>
              <a:rPr lang="en-US" dirty="0" err="1"/>
              <a:t>okrążeniu</a:t>
            </a:r>
            <a:r>
              <a:rPr lang="en-US" dirty="0"/>
              <a:t>.</a:t>
            </a:r>
            <a:endParaRPr lang="pl-PL" dirty="0"/>
          </a:p>
          <a:p>
            <a:r>
              <a:rPr lang="pl-PL" dirty="0"/>
              <a:t>2. </a:t>
            </a:r>
            <a:r>
              <a:rPr lang="pl-PL" dirty="0" err="1"/>
              <a:t>Consistency</a:t>
            </a:r>
            <a:r>
              <a:rPr lang="pl-PL" dirty="0"/>
              <a:t> </a:t>
            </a:r>
            <a:r>
              <a:rPr lang="pl-PL" dirty="0" err="1"/>
              <a:t>Score</a:t>
            </a:r>
            <a:r>
              <a:rPr lang="pl-PL" dirty="0"/>
              <a:t> (Wskaźnik Regularności)</a:t>
            </a:r>
            <a:endParaRPr lang="pl-PL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Co </a:t>
            </a:r>
            <a:r>
              <a:rPr lang="en-US" b="1" dirty="0" err="1"/>
              <a:t>liczymy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Odchylenie</a:t>
            </a:r>
            <a:r>
              <a:rPr lang="en-US" dirty="0"/>
              <a:t> </a:t>
            </a:r>
            <a:r>
              <a:rPr lang="en-US" dirty="0" err="1"/>
              <a:t>standardowe</a:t>
            </a:r>
            <a:r>
              <a:rPr lang="en-US" dirty="0"/>
              <a:t> ($\sigma$) </a:t>
            </a:r>
            <a:r>
              <a:rPr lang="en-US" dirty="0" err="1"/>
              <a:t>czasów</a:t>
            </a:r>
            <a:r>
              <a:rPr lang="en-US" dirty="0"/>
              <a:t> </a:t>
            </a:r>
            <a:r>
              <a:rPr lang="en-US" dirty="0" err="1"/>
              <a:t>okrążeń</a:t>
            </a:r>
            <a:r>
              <a:rPr lang="en-US" dirty="0"/>
              <a:t> po </a:t>
            </a:r>
            <a:r>
              <a:rPr lang="en-US" dirty="0" err="1"/>
              <a:t>wyłączeniu</a:t>
            </a:r>
            <a:r>
              <a:rPr lang="en-US" dirty="0"/>
              <a:t> </a:t>
            </a:r>
            <a:r>
              <a:rPr lang="en-US" dirty="0" err="1"/>
              <a:t>anomalii</a:t>
            </a:r>
            <a:r>
              <a:rPr lang="en-US" dirty="0"/>
              <a:t> (np. </a:t>
            </a:r>
            <a:r>
              <a:rPr lang="en-US" dirty="0" err="1"/>
              <a:t>zjazd</a:t>
            </a:r>
            <a:r>
              <a:rPr lang="en-US" dirty="0"/>
              <a:t> do </a:t>
            </a:r>
            <a:r>
              <a:rPr lang="en-US" dirty="0" err="1"/>
              <a:t>boksów</a:t>
            </a:r>
            <a:r>
              <a:rPr lang="en-US" dirty="0"/>
              <a:t>).</a:t>
            </a:r>
            <a:endParaRPr lang="pl-PL" dirty="0"/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Interpretacja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niższy</a:t>
            </a:r>
            <a:r>
              <a:rPr lang="en-US" dirty="0"/>
              <a:t> </a:t>
            </a:r>
            <a:r>
              <a:rPr lang="en-US" dirty="0" err="1"/>
              <a:t>wynik</a:t>
            </a:r>
            <a:r>
              <a:rPr lang="en-US" dirty="0"/>
              <a:t>, </a:t>
            </a:r>
            <a:r>
              <a:rPr lang="en-US" dirty="0" err="1"/>
              <a:t>tym</a:t>
            </a:r>
            <a:r>
              <a:rPr lang="en-US" dirty="0"/>
              <a:t> </a:t>
            </a:r>
            <a:r>
              <a:rPr lang="en-US" dirty="0" err="1"/>
              <a:t>bardziej</a:t>
            </a:r>
            <a:r>
              <a:rPr lang="en-US" dirty="0"/>
              <a:t> </a:t>
            </a:r>
            <a:r>
              <a:rPr lang="en-US" dirty="0" err="1"/>
              <a:t>powtarzalne</a:t>
            </a:r>
            <a:r>
              <a:rPr lang="en-US" dirty="0"/>
              <a:t> tempo </a:t>
            </a:r>
            <a:r>
              <a:rPr lang="en-US" dirty="0" err="1"/>
              <a:t>wyścigowe</a:t>
            </a:r>
            <a:r>
              <a:rPr lang="en-US" dirty="0"/>
              <a:t>. </a:t>
            </a:r>
            <a:r>
              <a:rPr lang="en-US" dirty="0" err="1"/>
              <a:t>Kluczowe</a:t>
            </a:r>
            <a:r>
              <a:rPr lang="en-US" dirty="0"/>
              <a:t> </a:t>
            </a:r>
            <a:r>
              <a:rPr lang="en-US" dirty="0" err="1"/>
              <a:t>dla</a:t>
            </a:r>
            <a:r>
              <a:rPr lang="en-US" dirty="0"/>
              <a:t> </a:t>
            </a:r>
            <a:r>
              <a:rPr lang="en-US" dirty="0" err="1"/>
              <a:t>oceny</a:t>
            </a:r>
            <a:r>
              <a:rPr lang="en-US" dirty="0"/>
              <a:t> </a:t>
            </a:r>
            <a:r>
              <a:rPr lang="en-US" dirty="0" err="1"/>
              <a:t>umiejętności</a:t>
            </a:r>
            <a:r>
              <a:rPr lang="en-US" dirty="0"/>
              <a:t> </a:t>
            </a:r>
            <a:r>
              <a:rPr lang="en-US" dirty="0" err="1"/>
              <a:t>zarządzania</a:t>
            </a:r>
            <a:r>
              <a:rPr lang="en-US" dirty="0"/>
              <a:t> </a:t>
            </a:r>
            <a:r>
              <a:rPr lang="en-US" dirty="0" err="1"/>
              <a:t>tempem</a:t>
            </a:r>
            <a:r>
              <a:rPr lang="en-US" dirty="0"/>
              <a:t>.</a:t>
            </a:r>
            <a:endParaRPr lang="pl-PL" dirty="0"/>
          </a:p>
          <a:p>
            <a:r>
              <a:rPr lang="pl-PL" dirty="0"/>
              <a:t>3. </a:t>
            </a:r>
            <a:r>
              <a:rPr lang="pl-PL" dirty="0" err="1"/>
              <a:t>Tyre</a:t>
            </a:r>
            <a:r>
              <a:rPr lang="pl-PL" dirty="0"/>
              <a:t> </a:t>
            </a:r>
            <a:r>
              <a:rPr lang="pl-PL" dirty="0" err="1"/>
              <a:t>Degradation</a:t>
            </a:r>
            <a:r>
              <a:rPr lang="pl-PL" dirty="0"/>
              <a:t> (Trend Zużycia Opon)</a:t>
            </a:r>
            <a:endParaRPr lang="pl-PL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Co </a:t>
            </a:r>
            <a:r>
              <a:rPr lang="en-US" b="1" dirty="0" err="1"/>
              <a:t>liczymy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Regresja</a:t>
            </a:r>
            <a:r>
              <a:rPr lang="en-US" dirty="0"/>
              <a:t> </a:t>
            </a:r>
            <a:r>
              <a:rPr lang="en-US" dirty="0" err="1"/>
              <a:t>liniowa</a:t>
            </a:r>
            <a:r>
              <a:rPr lang="en-US" dirty="0"/>
              <a:t> </a:t>
            </a:r>
            <a:r>
              <a:rPr lang="en-US" dirty="0" err="1"/>
              <a:t>wzrostu</a:t>
            </a:r>
            <a:r>
              <a:rPr lang="en-US" dirty="0"/>
              <a:t> </a:t>
            </a:r>
            <a:r>
              <a:rPr lang="en-US" dirty="0" err="1"/>
              <a:t>czasu</a:t>
            </a:r>
            <a:r>
              <a:rPr lang="en-US" dirty="0"/>
              <a:t> </a:t>
            </a:r>
            <a:r>
              <a:rPr lang="en-US" dirty="0" err="1"/>
              <a:t>okrążenia</a:t>
            </a:r>
            <a:r>
              <a:rPr lang="en-US" dirty="0"/>
              <a:t> w </a:t>
            </a:r>
            <a:r>
              <a:rPr lang="en-US" dirty="0" err="1"/>
              <a:t>miarę</a:t>
            </a:r>
            <a:r>
              <a:rPr lang="en-US" dirty="0"/>
              <a:t> </a:t>
            </a:r>
            <a:r>
              <a:rPr lang="en-US" dirty="0" err="1"/>
              <a:t>zwiększania</a:t>
            </a:r>
            <a:r>
              <a:rPr lang="en-US" dirty="0"/>
              <a:t> </a:t>
            </a:r>
            <a:r>
              <a:rPr lang="en-US" dirty="0" err="1"/>
              <a:t>przebiegu</a:t>
            </a:r>
            <a:r>
              <a:rPr lang="en-US" dirty="0"/>
              <a:t> </a:t>
            </a:r>
            <a:r>
              <a:rPr lang="en-US" dirty="0" err="1"/>
              <a:t>danego</a:t>
            </a:r>
            <a:r>
              <a:rPr lang="en-US" dirty="0"/>
              <a:t> </a:t>
            </a:r>
            <a:r>
              <a:rPr lang="en-US" dirty="0" err="1"/>
              <a:t>kompletu</a:t>
            </a:r>
            <a:r>
              <a:rPr lang="en-US" dirty="0"/>
              <a:t> </a:t>
            </a:r>
            <a:r>
              <a:rPr lang="en-US" dirty="0" err="1"/>
              <a:t>opon</a:t>
            </a:r>
            <a:r>
              <a:rPr lang="en-US" dirty="0"/>
              <a:t>.</a:t>
            </a:r>
            <a:endParaRPr lang="pl-PL" dirty="0"/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Wartość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Pozwala</a:t>
            </a:r>
            <a:r>
              <a:rPr lang="en-US" dirty="0"/>
              <a:t> </a:t>
            </a:r>
            <a:r>
              <a:rPr lang="en-US" dirty="0" err="1"/>
              <a:t>przewidzieć</a:t>
            </a:r>
            <a:r>
              <a:rPr lang="en-US" dirty="0"/>
              <a:t> "</a:t>
            </a:r>
            <a:r>
              <a:rPr lang="en-US" dirty="0" err="1"/>
              <a:t>klif</a:t>
            </a:r>
            <a:r>
              <a:rPr lang="en-US" dirty="0"/>
              <a:t>" </a:t>
            </a:r>
            <a:r>
              <a:rPr lang="en-US" dirty="0" err="1"/>
              <a:t>opony</a:t>
            </a:r>
            <a:r>
              <a:rPr lang="en-US" dirty="0"/>
              <a:t> (moment </a:t>
            </a:r>
            <a:r>
              <a:rPr lang="en-US" dirty="0" err="1"/>
              <a:t>nagłej</a:t>
            </a:r>
            <a:r>
              <a:rPr lang="en-US" dirty="0"/>
              <a:t> </a:t>
            </a:r>
            <a:r>
              <a:rPr lang="en-US" dirty="0" err="1"/>
              <a:t>utraty</a:t>
            </a:r>
            <a:r>
              <a:rPr lang="en-US" dirty="0"/>
              <a:t> </a:t>
            </a:r>
            <a:r>
              <a:rPr lang="en-US" dirty="0" err="1"/>
              <a:t>przyczepności</a:t>
            </a:r>
            <a:r>
              <a:rPr lang="en-US" dirty="0"/>
              <a:t>).</a:t>
            </a:r>
            <a:endParaRPr lang="pl-PL" dirty="0"/>
          </a:p>
          <a:p>
            <a:r>
              <a:rPr lang="pl-PL" dirty="0"/>
              <a:t>4. Wizualizacja Strategii (</a:t>
            </a:r>
            <a:r>
              <a:rPr lang="pl-PL" dirty="0" err="1"/>
              <a:t>Matplotlib</a:t>
            </a:r>
            <a:r>
              <a:rPr lang="pl-PL" dirty="0"/>
              <a:t>)</a:t>
            </a:r>
            <a:endParaRPr lang="pl-PL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Co </a:t>
            </a:r>
            <a:r>
              <a:rPr lang="en-US" b="1" dirty="0" err="1"/>
              <a:t>generujemy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Wykres</a:t>
            </a:r>
            <a:r>
              <a:rPr lang="en-US" dirty="0"/>
              <a:t> </a:t>
            </a:r>
            <a:r>
              <a:rPr lang="en-US" dirty="0" err="1"/>
              <a:t>osi</a:t>
            </a:r>
            <a:r>
              <a:rPr lang="en-US" dirty="0"/>
              <a:t> </a:t>
            </a:r>
            <a:r>
              <a:rPr lang="en-US" dirty="0" err="1"/>
              <a:t>czasu</a:t>
            </a:r>
            <a:r>
              <a:rPr lang="en-US" dirty="0"/>
              <a:t> z </a:t>
            </a:r>
            <a:r>
              <a:rPr lang="en-US" dirty="0" err="1"/>
              <a:t>zaznaczonymi</a:t>
            </a:r>
            <a:r>
              <a:rPr lang="en-US" dirty="0"/>
              <a:t> pit-</a:t>
            </a:r>
            <a:r>
              <a:rPr lang="en-US" dirty="0" err="1"/>
              <a:t>stopami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zmianami</a:t>
            </a:r>
            <a:r>
              <a:rPr lang="en-US" dirty="0"/>
              <a:t> </a:t>
            </a:r>
            <a:r>
              <a:rPr lang="en-US" dirty="0" err="1"/>
              <a:t>mieszanek</a:t>
            </a:r>
            <a:r>
              <a:rPr lang="en-US" dirty="0"/>
              <a:t> (Soft, Medium, Hard).</a:t>
            </a:r>
            <a:endParaRPr lang="pl-PL" dirty="0"/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Zastosowanie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Porównanie</a:t>
            </a:r>
            <a:r>
              <a:rPr lang="en-US" dirty="0"/>
              <a:t>, jak </a:t>
            </a:r>
            <a:r>
              <a:rPr lang="en-US" dirty="0" err="1"/>
              <a:t>różne</a:t>
            </a:r>
            <a:r>
              <a:rPr lang="en-US" dirty="0"/>
              <a:t> </a:t>
            </a:r>
            <a:r>
              <a:rPr lang="en-US" dirty="0" err="1"/>
              <a:t>strategie</a:t>
            </a:r>
            <a:r>
              <a:rPr lang="en-US" dirty="0"/>
              <a:t> </a:t>
            </a:r>
            <a:r>
              <a:rPr lang="en-US" dirty="0" err="1"/>
              <a:t>wpłynęły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końcowy</a:t>
            </a:r>
            <a:r>
              <a:rPr lang="en-US" dirty="0"/>
              <a:t> </a:t>
            </a:r>
            <a:r>
              <a:rPr lang="en-US" dirty="0" err="1"/>
              <a:t>wynik</a:t>
            </a:r>
            <a:r>
              <a:rPr lang="en-US" dirty="0"/>
              <a:t> </a:t>
            </a:r>
            <a:r>
              <a:rPr lang="en-US" dirty="0" err="1"/>
              <a:t>wyścigu</a:t>
            </a:r>
            <a:r>
              <a:rPr lang="en-US" dirty="0"/>
              <a:t>.</a:t>
            </a:r>
            <a:endParaRPr lang="pl-PL" dirty="0"/>
          </a:p>
          <a:p>
            <a:br>
              <a:rPr lang="en-US" dirty="0"/>
            </a:b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B2C43-C8A3-4ADD-BAD6-3E47EE094420}" type="slidenum"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8211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97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5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3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98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6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61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9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32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2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37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32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p!!Rectangle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9C53DD2C-A279-8F9B-95B1-7F19525129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96" r="-2" b="600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m!!text rectangle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2103121" y="4727173"/>
            <a:ext cx="7985759" cy="86882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pl-PL" sz="4000" dirty="0">
                <a:ea typeface="+mj-lt"/>
                <a:cs typeface="+mj-lt"/>
              </a:rPr>
              <a:t>System analizy telemetrii i strategii wyścigowej </a:t>
            </a:r>
            <a:r>
              <a:rPr lang="pl-PL" sz="4000" dirty="0" err="1">
                <a:ea typeface="+mj-lt"/>
                <a:cs typeface="+mj-lt"/>
              </a:rPr>
              <a:t>Formuly</a:t>
            </a:r>
            <a:r>
              <a:rPr lang="pl-PL" sz="4000" dirty="0">
                <a:ea typeface="+mj-lt"/>
                <a:cs typeface="+mj-lt"/>
              </a:rPr>
              <a:t> 1</a:t>
            </a:r>
            <a:endParaRPr lang="pl-PL" sz="4000" dirty="0"/>
          </a:p>
        </p:txBody>
      </p:sp>
      <p:sp>
        <p:nvSpPr>
          <p:cNvPr id="20" name="m!!accent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2615738" y="568063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 sz="2000" dirty="0">
                <a:solidFill>
                  <a:schemeClr val="bg1"/>
                </a:solidFill>
              </a:rPr>
              <a:t>Paweł </a:t>
            </a:r>
            <a:r>
              <a:rPr lang="pl-PL" sz="2000" dirty="0" err="1">
                <a:solidFill>
                  <a:schemeClr val="bg1"/>
                </a:solidFill>
              </a:rPr>
              <a:t>Janduła</a:t>
            </a:r>
            <a:r>
              <a:rPr lang="pl-PL" sz="2000" dirty="0">
                <a:solidFill>
                  <a:schemeClr val="bg1"/>
                </a:solidFill>
              </a:rPr>
              <a:t>, Mikołaj Mroczek, Szymon Dybał</a:t>
            </a: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147320D-E4E8-9025-9DF6-45D13027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pl-PL" sz="2800"/>
              <a:t>Tech stack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1A1535-2438-0A25-0C4B-254894F66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1700" dirty="0">
                <a:ea typeface="+mn-lt"/>
                <a:cs typeface="+mn-lt"/>
              </a:rPr>
              <a:t>Język: </a:t>
            </a:r>
            <a:r>
              <a:rPr lang="pl-PL" sz="1700" dirty="0" err="1">
                <a:ea typeface="+mn-lt"/>
                <a:cs typeface="+mn-lt"/>
              </a:rPr>
              <a:t>Python</a:t>
            </a:r>
            <a:r>
              <a:rPr lang="pl-PL" sz="1700" dirty="0">
                <a:ea typeface="+mn-lt"/>
                <a:cs typeface="+mn-lt"/>
              </a:rPr>
              <a:t> 3.10+ </a:t>
            </a:r>
          </a:p>
          <a:p>
            <a:r>
              <a:rPr lang="pl-PL" sz="1700">
                <a:ea typeface="+mn-lt"/>
                <a:cs typeface="+mn-lt"/>
              </a:rPr>
              <a:t>Dane: OpenF1 API (darmowe, publiczne dane). </a:t>
            </a:r>
          </a:p>
          <a:p>
            <a:r>
              <a:rPr lang="pl-PL" sz="1700">
                <a:ea typeface="+mn-lt"/>
                <a:cs typeface="+mn-lt"/>
              </a:rPr>
              <a:t>Biblioteki: requests (do API), matplotlib (do wykresów), ewentualnie numpy/pandas do obliczeń.</a:t>
            </a:r>
            <a:endParaRPr lang="pl-PL" sz="1700"/>
          </a:p>
        </p:txBody>
      </p:sp>
      <p:pic>
        <p:nvPicPr>
          <p:cNvPr id="5" name="Obraz 4" descr="Obraz zawierający ubrania, osoba, Ludzka twarz, rękaw&#10;&#10;Zawartość wygenerowana przez AI może być niepoprawna.">
            <a:extLst>
              <a:ext uri="{FF2B5EF4-FFF2-40B4-BE49-F238E27FC236}">
                <a16:creationId xmlns:a16="http://schemas.microsoft.com/office/drawing/2014/main" id="{E4D7509A-B6EA-2084-51A4-AAE6B3121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967" y="1536825"/>
            <a:ext cx="6921940" cy="389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05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43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raz 2" descr="F1 wyścigi - Memy.pl">
            <a:extLst>
              <a:ext uri="{FF2B5EF4-FFF2-40B4-BE49-F238E27FC236}">
                <a16:creationId xmlns:a16="http://schemas.microsoft.com/office/drawing/2014/main" id="{7F08FCF9-065C-DD51-6CC9-F9AB8E7E17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92" r="8253"/>
          <a:stretch>
            <a:fillRect/>
          </a:stretch>
        </p:blipFill>
        <p:spPr>
          <a:xfrm>
            <a:off x="20" y="10"/>
            <a:ext cx="6850935" cy="6857990"/>
          </a:xfrm>
          <a:prstGeom prst="rect">
            <a:avLst/>
          </a:prstGeom>
        </p:spPr>
      </p:pic>
      <p:sp>
        <p:nvSpPr>
          <p:cNvPr id="69" name="Rectangle 45">
            <a:extLst>
              <a:ext uri="{FF2B5EF4-FFF2-40B4-BE49-F238E27FC236}">
                <a16:creationId xmlns:a16="http://schemas.microsoft.com/office/drawing/2014/main" id="{EFAEC92A-2230-45B0-A12F-07F9F9EA4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2B9D7C3-0471-BA01-739B-982287671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pl-PL" sz="2600">
                <a:solidFill>
                  <a:schemeClr val="bg1"/>
                </a:solidFill>
                <a:ea typeface="+mj-lt"/>
                <a:cs typeface="+mj-lt"/>
              </a:rPr>
              <a:t>Cel i Funkcjonalność projektu</a:t>
            </a:r>
          </a:p>
        </p:txBody>
      </p:sp>
      <p:sp>
        <p:nvSpPr>
          <p:cNvPr id="70" name="Rectangle 4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Rectangle 4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Content Placeholder 7">
            <a:extLst>
              <a:ext uri="{FF2B5EF4-FFF2-40B4-BE49-F238E27FC236}">
                <a16:creationId xmlns:a16="http://schemas.microsoft.com/office/drawing/2014/main" id="{138650AF-477D-E886-6F52-0CE457B7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68" y="2718054"/>
            <a:ext cx="3438906" cy="320725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Cel:</a:t>
            </a:r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 Stworzenie narzędzia konsolowego do profesjonalnej analizy danych Formuły 1.</a:t>
            </a:r>
            <a:endParaRPr lang="en-US" sz="130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Dwa tryby pracy:</a:t>
            </a:r>
            <a:endParaRPr lang="en-US" sz="130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Kwalifikacje:</a:t>
            </a:r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 Analiza „Ultimate Lap”, telemetria (punkty hamowania, otwarcie przepustnicy).</a:t>
            </a:r>
            <a:endParaRPr lang="en-US" sz="130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Wyścig:</a:t>
            </a:r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 Strategie oponiarskie, degradacja, regularność (Consistency Score).</a:t>
            </a:r>
            <a:endParaRPr lang="en-US" sz="130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Interfejs:</a:t>
            </a:r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 Rankingi całej stawki oraz pojedynki Head-to-Head (np. Verstappen vs Hamilton).</a:t>
            </a:r>
            <a:endParaRPr lang="en-US" sz="130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endParaRPr lang="en-US" sz="13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35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108D317-7CBD-4897-BD1F-959436D2A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00D2AC7-3FC7-4A51-8B49-02588A0F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64" y="834888"/>
            <a:ext cx="4314645" cy="1268958"/>
          </a:xfrm>
        </p:spPr>
        <p:txBody>
          <a:bodyPr anchor="b">
            <a:normAutofit/>
          </a:bodyPr>
          <a:lstStyle/>
          <a:p>
            <a:r>
              <a:rPr lang="pl-PL" sz="3200" dirty="0">
                <a:ea typeface="+mj-lt"/>
                <a:cs typeface="+mj-lt"/>
              </a:rPr>
              <a:t>Architektura Systemu</a:t>
            </a:r>
            <a:endParaRPr lang="pl-PL"/>
          </a:p>
        </p:txBody>
      </p:sp>
      <p:pic>
        <p:nvPicPr>
          <p:cNvPr id="4" name="Symbol zastępczy zawartości 3" descr="a man is sitting in a chair with his hands in the air and absolute cinema is written below him">
            <a:extLst>
              <a:ext uri="{FF2B5EF4-FFF2-40B4-BE49-F238E27FC236}">
                <a16:creationId xmlns:a16="http://schemas.microsoft.com/office/drawing/2014/main" id="{D6BA27D6-FFE8-4843-76DD-989DA00B73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31"/>
          <a:stretch>
            <a:fillRect/>
          </a:stretch>
        </p:blipFill>
        <p:spPr>
          <a:xfrm>
            <a:off x="20" y="10"/>
            <a:ext cx="6717436" cy="6857990"/>
          </a:xfrm>
          <a:custGeom>
            <a:avLst/>
            <a:gdLst/>
            <a:ahLst/>
            <a:cxnLst/>
            <a:rect l="l" t="t" r="r" b="b"/>
            <a:pathLst>
              <a:path w="6717456" h="6858000">
                <a:moveTo>
                  <a:pt x="0" y="0"/>
                </a:moveTo>
                <a:lnTo>
                  <a:pt x="6149468" y="0"/>
                </a:lnTo>
                <a:lnTo>
                  <a:pt x="6202448" y="162605"/>
                </a:lnTo>
                <a:cubicBezTo>
                  <a:pt x="6535625" y="1263763"/>
                  <a:pt x="6717456" y="2453207"/>
                  <a:pt x="6717456" y="3694043"/>
                </a:cubicBezTo>
                <a:cubicBezTo>
                  <a:pt x="6717456" y="4757617"/>
                  <a:pt x="6583866" y="5783433"/>
                  <a:pt x="6335883" y="6748259"/>
                </a:cubicBezTo>
                <a:lnTo>
                  <a:pt x="6305198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297641-8B9F-4767-9606-8A113132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89864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F3CA65-EA00-46B4-9616-39E6853F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572" y="2240371"/>
            <a:ext cx="42062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F1EB90-AEB9-9A08-4B22-D661D09CB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63" y="2557587"/>
            <a:ext cx="4314645" cy="3717317"/>
          </a:xfrm>
        </p:spPr>
        <p:txBody>
          <a:bodyPr anchor="t">
            <a:normAutofit fontScale="92500"/>
          </a:bodyPr>
          <a:lstStyle/>
          <a:p>
            <a:r>
              <a:rPr lang="en-US" sz="1700" b="1" err="1"/>
              <a:t>Kluczowe</a:t>
            </a:r>
            <a:r>
              <a:rPr lang="en-US" sz="1700" b="1" dirty="0"/>
              <a:t> </a:t>
            </a:r>
            <a:r>
              <a:rPr lang="en-US" sz="1700" b="1" err="1"/>
              <a:t>założenie</a:t>
            </a:r>
            <a:r>
              <a:rPr lang="en-US" sz="1700" b="1" dirty="0"/>
              <a:t>:</a:t>
            </a:r>
            <a:r>
              <a:rPr lang="en-US" sz="1700" dirty="0"/>
              <a:t> </a:t>
            </a:r>
            <a:r>
              <a:rPr lang="en-US" sz="1700" err="1"/>
              <a:t>Kod</a:t>
            </a:r>
            <a:r>
              <a:rPr lang="en-US" sz="1700" dirty="0"/>
              <a:t> </a:t>
            </a:r>
            <a:r>
              <a:rPr lang="en-US" sz="1700" err="1"/>
              <a:t>elastyczny</a:t>
            </a:r>
            <a:r>
              <a:rPr lang="en-US" sz="1700" dirty="0"/>
              <a:t>, </a:t>
            </a:r>
            <a:r>
              <a:rPr lang="en-US" sz="1700" err="1"/>
              <a:t>łatwo</a:t>
            </a:r>
            <a:r>
              <a:rPr lang="en-US" sz="1700" dirty="0"/>
              <a:t> </a:t>
            </a:r>
            <a:r>
              <a:rPr lang="en-US" sz="1700" err="1"/>
              <a:t>rozszerzalny</a:t>
            </a:r>
            <a:r>
              <a:rPr lang="en-US" sz="1700" dirty="0"/>
              <a:t> (Open/Closed Principle).</a:t>
            </a:r>
          </a:p>
          <a:p>
            <a:r>
              <a:rPr lang="en-US" sz="1700" b="1" err="1"/>
              <a:t>Podział</a:t>
            </a:r>
            <a:r>
              <a:rPr lang="en-US" sz="1700" b="1" dirty="0"/>
              <a:t> </a:t>
            </a:r>
            <a:r>
              <a:rPr lang="en-US" sz="1700" b="1" err="1"/>
              <a:t>na</a:t>
            </a:r>
            <a:r>
              <a:rPr lang="en-US" sz="1700" b="1" dirty="0"/>
              <a:t> </a:t>
            </a:r>
            <a:r>
              <a:rPr lang="en-US" sz="1700" b="1" err="1"/>
              <a:t>warstwy</a:t>
            </a:r>
            <a:r>
              <a:rPr lang="en-US" sz="1700" b="1" dirty="0"/>
              <a:t>:</a:t>
            </a:r>
            <a:endParaRPr lang="en-US"/>
          </a:p>
          <a:p>
            <a:pPr lvl="1"/>
            <a:r>
              <a:rPr lang="en-US" sz="1700" b="1" err="1"/>
              <a:t>Warstwa</a:t>
            </a:r>
            <a:r>
              <a:rPr lang="en-US" sz="1700" b="1" dirty="0"/>
              <a:t> </a:t>
            </a:r>
            <a:r>
              <a:rPr lang="en-US" sz="1700" b="1" err="1"/>
              <a:t>Kreacyjna</a:t>
            </a:r>
            <a:r>
              <a:rPr lang="en-US" sz="1700" b="1" dirty="0"/>
              <a:t>:</a:t>
            </a:r>
            <a:r>
              <a:rPr lang="en-US" sz="1700" dirty="0"/>
              <a:t> </a:t>
            </a:r>
            <a:r>
              <a:rPr lang="en-US" sz="1700" err="1"/>
              <a:t>Zarządzanie</a:t>
            </a:r>
            <a:r>
              <a:rPr lang="en-US" sz="1700" dirty="0"/>
              <a:t> </a:t>
            </a:r>
            <a:r>
              <a:rPr lang="en-US" sz="1700" err="1"/>
              <a:t>typami</a:t>
            </a:r>
            <a:r>
              <a:rPr lang="en-US" sz="1700" dirty="0"/>
              <a:t> </a:t>
            </a:r>
            <a:r>
              <a:rPr lang="en-US" sz="1700" err="1"/>
              <a:t>sesji</a:t>
            </a:r>
            <a:r>
              <a:rPr lang="en-US" sz="1700" dirty="0"/>
              <a:t>.</a:t>
            </a:r>
            <a:endParaRPr lang="en-US"/>
          </a:p>
          <a:p>
            <a:pPr lvl="1"/>
            <a:r>
              <a:rPr lang="en-US" sz="1700" b="1" dirty="0" err="1"/>
              <a:t>Warstwa</a:t>
            </a:r>
            <a:r>
              <a:rPr lang="en-US" sz="1700" b="1" dirty="0"/>
              <a:t> </a:t>
            </a:r>
            <a:r>
              <a:rPr lang="en-US" sz="1700" b="1" dirty="0" err="1"/>
              <a:t>Procesowa</a:t>
            </a:r>
            <a:r>
              <a:rPr lang="en-US" sz="1700" b="1" dirty="0"/>
              <a:t>:</a:t>
            </a:r>
            <a:r>
              <a:rPr lang="en-US" sz="1700" dirty="0"/>
              <a:t> </a:t>
            </a:r>
            <a:r>
              <a:rPr lang="en-US" sz="1700" dirty="0" err="1"/>
              <a:t>Standaryzacja</a:t>
            </a:r>
            <a:r>
              <a:rPr lang="en-US" sz="1700" dirty="0"/>
              <a:t> </a:t>
            </a:r>
            <a:r>
              <a:rPr lang="en-US" sz="1700" dirty="0" err="1"/>
              <a:t>generowania</a:t>
            </a:r>
            <a:r>
              <a:rPr lang="en-US" sz="1700" dirty="0"/>
              <a:t> </a:t>
            </a:r>
            <a:r>
              <a:rPr lang="en-US" sz="1700" dirty="0" err="1"/>
              <a:t>raportów</a:t>
            </a:r>
            <a:r>
              <a:rPr lang="en-US" sz="1700" dirty="0"/>
              <a:t>.</a:t>
            </a:r>
            <a:endParaRPr lang="en-US"/>
          </a:p>
          <a:p>
            <a:pPr lvl="1"/>
            <a:r>
              <a:rPr lang="en-US" sz="1700" b="1" dirty="0" err="1"/>
              <a:t>Warstwa</a:t>
            </a:r>
            <a:r>
              <a:rPr lang="en-US" sz="1700" b="1" dirty="0"/>
              <a:t> </a:t>
            </a:r>
            <a:r>
              <a:rPr lang="en-US" sz="1700" b="1" dirty="0" err="1"/>
              <a:t>Logiki</a:t>
            </a:r>
            <a:r>
              <a:rPr lang="en-US" sz="1700" b="1" dirty="0"/>
              <a:t>:</a:t>
            </a:r>
            <a:r>
              <a:rPr lang="en-US" sz="1700" dirty="0"/>
              <a:t> </a:t>
            </a:r>
            <a:r>
              <a:rPr lang="en-US" sz="1700" dirty="0" err="1"/>
              <a:t>Wymienne</a:t>
            </a:r>
            <a:r>
              <a:rPr lang="en-US" sz="1700" dirty="0"/>
              <a:t> </a:t>
            </a:r>
            <a:r>
              <a:rPr lang="en-US" sz="1700" dirty="0" err="1"/>
              <a:t>algorytmy</a:t>
            </a:r>
            <a:r>
              <a:rPr lang="en-US" sz="1700" dirty="0"/>
              <a:t> </a:t>
            </a:r>
            <a:r>
              <a:rPr lang="en-US" sz="1700" dirty="0" err="1"/>
              <a:t>analityczne</a:t>
            </a:r>
            <a:r>
              <a:rPr lang="en-US" sz="1700" dirty="0"/>
              <a:t>.</a:t>
            </a:r>
            <a:endParaRPr lang="en-US"/>
          </a:p>
          <a:p>
            <a:pPr lvl="1"/>
            <a:r>
              <a:rPr lang="en-US" sz="1700" b="1" dirty="0" err="1"/>
              <a:t>Warstwa</a:t>
            </a:r>
            <a:r>
              <a:rPr lang="en-US" sz="1700" b="1" dirty="0"/>
              <a:t> </a:t>
            </a:r>
            <a:r>
              <a:rPr lang="en-US" sz="1700" b="1" dirty="0" err="1"/>
              <a:t>Danych</a:t>
            </a:r>
            <a:r>
              <a:rPr lang="en-US" sz="1700" b="1" dirty="0"/>
              <a:t>:</a:t>
            </a:r>
            <a:r>
              <a:rPr lang="en-US" sz="1700" dirty="0"/>
              <a:t> </a:t>
            </a:r>
            <a:r>
              <a:rPr lang="en-US" sz="1700" dirty="0" err="1"/>
              <a:t>Izolacja</a:t>
            </a:r>
            <a:r>
              <a:rPr lang="en-US" sz="1700" dirty="0"/>
              <a:t> </a:t>
            </a:r>
            <a:r>
              <a:rPr lang="en-US" sz="1700" dirty="0" err="1"/>
              <a:t>zewnętrznych</a:t>
            </a:r>
            <a:r>
              <a:rPr lang="en-US" sz="1700" dirty="0"/>
              <a:t> API.</a:t>
            </a:r>
            <a:endParaRPr lang="en-US"/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60688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27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Rectangle 29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3857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2AF07D4-9E8A-2B43-DE3A-55D5DD3E3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510" y="978619"/>
            <a:ext cx="5991244" cy="110642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l-PL" sz="3200" dirty="0">
                <a:ea typeface="+mj-lt"/>
                <a:cs typeface="+mj-lt"/>
              </a:rPr>
              <a:t>Analityka w praktyce</a:t>
            </a:r>
            <a:endParaRPr lang="pl-PL" dirty="0"/>
          </a:p>
        </p:txBody>
      </p:sp>
      <p:pic>
        <p:nvPicPr>
          <p:cNvPr id="4" name="Symbol zastępczy zawartości 3" descr="Dla fanów F1 - Obrazkowo.pl - najlepsze memy w sieci.">
            <a:extLst>
              <a:ext uri="{FF2B5EF4-FFF2-40B4-BE49-F238E27FC236}">
                <a16:creationId xmlns:a16="http://schemas.microsoft.com/office/drawing/2014/main" id="{D988DC56-1256-A539-FC47-2C8B11C28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74" y="796576"/>
            <a:ext cx="4033647" cy="5171342"/>
          </a:xfrm>
          <a:prstGeom prst="rect">
            <a:avLst/>
          </a:prstGeom>
        </p:spPr>
      </p:pic>
      <p:sp>
        <p:nvSpPr>
          <p:cNvPr id="46" name="Rectangle 31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79848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33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7859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Content Placeholder 24">
            <a:extLst>
              <a:ext uri="{FF2B5EF4-FFF2-40B4-BE49-F238E27FC236}">
                <a16:creationId xmlns:a16="http://schemas.microsoft.com/office/drawing/2014/main" id="{469791CD-4AD5-ECE6-AA9B-C457FF090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861" y="2252870"/>
            <a:ext cx="5993892" cy="35602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1. Ultimate Lap (</a:t>
            </a:r>
            <a:r>
              <a:rPr lang="en-US" sz="1800" dirty="0" err="1">
                <a:ea typeface="+mn-lt"/>
                <a:cs typeface="+mn-lt"/>
              </a:rPr>
              <a:t>Teoretyczne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Okrążenie</a:t>
            </a:r>
            <a:r>
              <a:rPr lang="en-US" sz="1800" dirty="0">
                <a:ea typeface="+mn-lt"/>
                <a:cs typeface="+mn-lt"/>
              </a:rPr>
              <a:t>)</a:t>
            </a:r>
          </a:p>
          <a:p>
            <a:r>
              <a:rPr lang="en-US" sz="1800" dirty="0">
                <a:ea typeface="+mn-lt"/>
                <a:cs typeface="+mn-lt"/>
              </a:rPr>
              <a:t>2. Consistency Score (</a:t>
            </a:r>
            <a:r>
              <a:rPr lang="en-US" sz="1800" dirty="0" err="1">
                <a:ea typeface="+mn-lt"/>
                <a:cs typeface="+mn-lt"/>
              </a:rPr>
              <a:t>Wskaźnik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Regularności</a:t>
            </a:r>
            <a:r>
              <a:rPr lang="en-US" sz="1800" dirty="0">
                <a:ea typeface="+mn-lt"/>
                <a:cs typeface="+mn-lt"/>
              </a:rPr>
              <a:t>)</a:t>
            </a:r>
          </a:p>
          <a:p>
            <a:r>
              <a:rPr lang="en-US" sz="1800" dirty="0">
                <a:ea typeface="+mn-lt"/>
                <a:cs typeface="+mn-lt"/>
              </a:rPr>
              <a:t>3. </a:t>
            </a:r>
            <a:r>
              <a:rPr lang="en-US" sz="1800" dirty="0" err="1">
                <a:ea typeface="+mn-lt"/>
                <a:cs typeface="+mn-lt"/>
              </a:rPr>
              <a:t>Tyre</a:t>
            </a:r>
            <a:r>
              <a:rPr lang="en-US" sz="1800" dirty="0">
                <a:ea typeface="+mn-lt"/>
                <a:cs typeface="+mn-lt"/>
              </a:rPr>
              <a:t> Degradation (Trend </a:t>
            </a:r>
            <a:r>
              <a:rPr lang="en-US" sz="1800" dirty="0" err="1">
                <a:ea typeface="+mn-lt"/>
                <a:cs typeface="+mn-lt"/>
              </a:rPr>
              <a:t>Zużycia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Opon</a:t>
            </a:r>
            <a:r>
              <a:rPr lang="en-US" sz="1800" dirty="0">
                <a:ea typeface="+mn-lt"/>
                <a:cs typeface="+mn-lt"/>
              </a:rPr>
              <a:t>)</a:t>
            </a:r>
          </a:p>
          <a:p>
            <a:r>
              <a:rPr lang="en-US" sz="1800" dirty="0">
                <a:ea typeface="+mn-lt"/>
                <a:cs typeface="+mn-lt"/>
              </a:rPr>
              <a:t>4. </a:t>
            </a:r>
            <a:r>
              <a:rPr lang="en-US" sz="1800" dirty="0" err="1">
                <a:ea typeface="+mn-lt"/>
                <a:cs typeface="+mn-lt"/>
              </a:rPr>
              <a:t>Wizualizacja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Strategii</a:t>
            </a:r>
            <a:r>
              <a:rPr lang="en-US" sz="1800" dirty="0">
                <a:ea typeface="+mn-lt"/>
                <a:cs typeface="+mn-lt"/>
              </a:rPr>
              <a:t> (Matplotlib)</a:t>
            </a:r>
          </a:p>
        </p:txBody>
      </p:sp>
    </p:spTree>
    <p:extLst>
      <p:ext uri="{BB962C8B-B14F-4D97-AF65-F5344CB8AC3E}">
        <p14:creationId xmlns:p14="http://schemas.microsoft.com/office/powerpoint/2010/main" val="341853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ymbol zastępczy zawartości 3" descr="F1. Jeszcze szersza współpraca z Ferrari?">
            <a:extLst>
              <a:ext uri="{FF2B5EF4-FFF2-40B4-BE49-F238E27FC236}">
                <a16:creationId xmlns:a16="http://schemas.microsoft.com/office/drawing/2014/main" id="{9C75D134-13B7-67E2-610B-F93ED4F5C8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34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2" name="Rectangle 12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ytuł 1">
            <a:extLst>
              <a:ext uri="{FF2B5EF4-FFF2-40B4-BE49-F238E27FC236}">
                <a16:creationId xmlns:a16="http://schemas.microsoft.com/office/drawing/2014/main" id="{90B4C8CD-38C4-B6F5-2B9E-6BC19229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22" y="1161288"/>
            <a:ext cx="11276751" cy="1124712"/>
          </a:xfrm>
        </p:spPr>
        <p:txBody>
          <a:bodyPr anchor="b">
            <a:normAutofit/>
          </a:bodyPr>
          <a:lstStyle/>
          <a:p>
            <a:r>
              <a:rPr lang="pl-PL" sz="2800" dirty="0">
                <a:solidFill>
                  <a:schemeClr val="bg1"/>
                </a:solidFill>
                <a:ea typeface="+mj-lt"/>
                <a:cs typeface="+mj-lt"/>
              </a:rPr>
              <a:t>Wzorzec 1: </a:t>
            </a:r>
            <a:r>
              <a:rPr lang="pl-PL" sz="2800" dirty="0" err="1">
                <a:solidFill>
                  <a:schemeClr val="bg1"/>
                </a:solidFill>
                <a:ea typeface="+mj-lt"/>
                <a:cs typeface="+mj-lt"/>
              </a:rPr>
              <a:t>Abstract</a:t>
            </a:r>
            <a:r>
              <a:rPr lang="pl-PL" sz="2800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pl-PL" sz="2800" dirty="0" err="1">
                <a:solidFill>
                  <a:schemeClr val="bg1"/>
                </a:solidFill>
                <a:ea typeface="+mj-lt"/>
                <a:cs typeface="+mj-lt"/>
              </a:rPr>
              <a:t>Factory</a:t>
            </a:r>
            <a:endParaRPr lang="pl-PL" dirty="0" err="1">
              <a:solidFill>
                <a:schemeClr val="bg1"/>
              </a:solidFill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6890D3-E08D-4BF4-0BBC-F1F7A3344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25" y="2830480"/>
            <a:ext cx="11277510" cy="3207258"/>
          </a:xfrm>
        </p:spPr>
        <p:txBody>
          <a:bodyPr anchor="t">
            <a:normAutofit/>
          </a:bodyPr>
          <a:lstStyle/>
          <a:p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Elementy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ReportFactory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QualifyingFactory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RaceFactory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</a:p>
          <a:p>
            <a:r>
              <a:rPr lang="en-US" sz="1700" b="1" err="1">
                <a:solidFill>
                  <a:schemeClr val="bg1"/>
                </a:solidFill>
                <a:ea typeface="+mn-lt"/>
                <a:cs typeface="+mn-lt"/>
              </a:rPr>
              <a:t>Dlaczego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 to ma </a:t>
            </a:r>
            <a:r>
              <a:rPr lang="en-US" sz="1700" b="1" err="1">
                <a:solidFill>
                  <a:schemeClr val="bg1"/>
                </a:solidFill>
                <a:ea typeface="+mn-lt"/>
                <a:cs typeface="+mn-lt"/>
              </a:rPr>
              <a:t>sens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? </a:t>
            </a:r>
            <a:r>
              <a:rPr lang="en-US" sz="1700" b="1" err="1">
                <a:solidFill>
                  <a:schemeClr val="bg1"/>
                </a:solidFill>
                <a:ea typeface="+mn-lt"/>
                <a:cs typeface="+mn-lt"/>
              </a:rPr>
              <a:t>Kontekst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 F1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Weekend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wyścigowy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składa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się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z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różnych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typów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sesji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Kwalifikacje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Wyścig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Treningi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).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Raport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"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Rankingowy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" w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kwalifikacjach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oznacza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coś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innego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najszybsze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pojedyncze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okrążenie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niż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w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wyścigu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średnie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tempo,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pozycja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na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mecie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). </a:t>
            </a:r>
          </a:p>
          <a:p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Uzasadnienie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Fabryka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pozwala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klientowi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poprosić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o "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raport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porównawczy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" bez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wiedzy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czy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system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przetwarza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akurat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dane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z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kwalifikacji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czy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wyścigu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QualifyingFactory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dostarczy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obiekt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skonfigurowany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pod "Ultimate Lap", a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RaceFactory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pod "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Tyre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Degradation".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Zapewnia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to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spójność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rodziny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tworzonych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obiektów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b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</a:br>
            <a:endParaRPr lang="en-US" sz="17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080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C601C-7EB4-C48F-2A19-460554AD7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ABFE21BA-99B6-8B4F-208F-8B07EB1C3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ymbol zastępczy zawartości 3" descr="F1. Jeszcze szersza współpraca z Ferrari?">
            <a:extLst>
              <a:ext uri="{FF2B5EF4-FFF2-40B4-BE49-F238E27FC236}">
                <a16:creationId xmlns:a16="http://schemas.microsoft.com/office/drawing/2014/main" id="{A7B92EA4-B771-95B1-40E6-0A46FC3808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34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2" name="Rectangle 12">
            <a:extLst>
              <a:ext uri="{FF2B5EF4-FFF2-40B4-BE49-F238E27FC236}">
                <a16:creationId xmlns:a16="http://schemas.microsoft.com/office/drawing/2014/main" id="{3EE6A725-9874-7711-42C3-EA3B23235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ytuł 1">
            <a:extLst>
              <a:ext uri="{FF2B5EF4-FFF2-40B4-BE49-F238E27FC236}">
                <a16:creationId xmlns:a16="http://schemas.microsoft.com/office/drawing/2014/main" id="{E9B6C549-398A-699D-3923-C02DB60D4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22" y="1161288"/>
            <a:ext cx="11357948" cy="1124712"/>
          </a:xfrm>
        </p:spPr>
        <p:txBody>
          <a:bodyPr anchor="b">
            <a:normAutofit/>
          </a:bodyPr>
          <a:lstStyle/>
          <a:p>
            <a:r>
              <a:rPr lang="pl-PL" sz="2800" dirty="0">
                <a:solidFill>
                  <a:schemeClr val="bg1"/>
                </a:solidFill>
                <a:ea typeface="+mj-lt"/>
                <a:cs typeface="+mj-lt"/>
              </a:rPr>
              <a:t>Wzorzec 2: </a:t>
            </a:r>
            <a:r>
              <a:rPr lang="pl-PL" sz="2800" dirty="0" err="1">
                <a:solidFill>
                  <a:schemeClr val="bg1"/>
                </a:solidFill>
                <a:ea typeface="+mj-lt"/>
                <a:cs typeface="+mj-lt"/>
              </a:rPr>
              <a:t>Template</a:t>
            </a:r>
            <a:r>
              <a:rPr lang="pl-PL" sz="2800" dirty="0">
                <a:solidFill>
                  <a:schemeClr val="bg1"/>
                </a:solidFill>
                <a:ea typeface="+mj-lt"/>
                <a:cs typeface="+mj-lt"/>
              </a:rPr>
              <a:t> Method 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39DDD017-1207-6E20-9AAF-8F6AEA525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A4FF030B-95B8-1982-6CCE-89323A20D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89F8C30-114E-826D-8C2A-6886913A0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25" y="2830480"/>
            <a:ext cx="11371199" cy="3207258"/>
          </a:xfrm>
        </p:spPr>
        <p:txBody>
          <a:bodyPr anchor="t">
            <a:normAutofit/>
          </a:bodyPr>
          <a:lstStyle/>
          <a:p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Elementy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RaceReportTemplate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oraz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jego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dziedziczenie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). </a:t>
            </a:r>
          </a:p>
          <a:p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Dlaczego to ma </a:t>
            </a:r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sens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? </a:t>
            </a:r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Kontekst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 F1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Niezależnie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od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tego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czy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robisz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wykres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zużycia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opon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czy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tabelę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wyników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proces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generowania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raportu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jest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zawsze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taki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sam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Pobierz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dane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(Fetch).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Przelicz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matematykę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(Process).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Wyświetl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Wyrenderuj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(Display). </a:t>
            </a:r>
          </a:p>
          <a:p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Uzasadnienie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Klasa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bazowa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RaceReportTemplate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definiuje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ten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szkielet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generate_report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()).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Klasy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pochodne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(np.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VisualChartReport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nadpisują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tylko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specyficzne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kroki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(np.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display_output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renderuje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wykres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zamiast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tekstu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), ale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muszą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pisać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od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nowa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logiki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sterującej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przepływem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To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eliminuje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duplikację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kodu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w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logice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orkiestracji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3</a:t>
            </a:r>
            <a:endParaRPr lang="en-US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824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F156A-1A1B-E636-0EEC-08862A5DB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C79DA3F6-68FF-9FCD-CF59-7B7B490D3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ymbol zastępczy zawartości 3" descr="F1. Jeszcze szersza współpraca z Ferrari?">
            <a:extLst>
              <a:ext uri="{FF2B5EF4-FFF2-40B4-BE49-F238E27FC236}">
                <a16:creationId xmlns:a16="http://schemas.microsoft.com/office/drawing/2014/main" id="{58E5EBAC-C9E6-EAD6-0953-6C41DCB91A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34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2" name="Rectangle 12">
            <a:extLst>
              <a:ext uri="{FF2B5EF4-FFF2-40B4-BE49-F238E27FC236}">
                <a16:creationId xmlns:a16="http://schemas.microsoft.com/office/drawing/2014/main" id="{51789B9C-F577-AC31-49CF-7B0769A83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ytuł 1">
            <a:extLst>
              <a:ext uri="{FF2B5EF4-FFF2-40B4-BE49-F238E27FC236}">
                <a16:creationId xmlns:a16="http://schemas.microsoft.com/office/drawing/2014/main" id="{99BE5402-AD8C-662F-0841-4262A825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22" y="1161288"/>
            <a:ext cx="11389177" cy="1124712"/>
          </a:xfrm>
        </p:spPr>
        <p:txBody>
          <a:bodyPr anchor="b">
            <a:normAutofit/>
          </a:bodyPr>
          <a:lstStyle/>
          <a:p>
            <a:r>
              <a:rPr lang="pl-PL" sz="2800" dirty="0">
                <a:solidFill>
                  <a:schemeClr val="bg1"/>
                </a:solidFill>
                <a:ea typeface="+mj-lt"/>
                <a:cs typeface="+mj-lt"/>
              </a:rPr>
              <a:t>Wzorzec 3: </a:t>
            </a:r>
            <a:r>
              <a:rPr lang="pl-PL" sz="2800" dirty="0" err="1">
                <a:solidFill>
                  <a:schemeClr val="bg1"/>
                </a:solidFill>
                <a:ea typeface="+mj-lt"/>
                <a:cs typeface="+mj-lt"/>
              </a:rPr>
              <a:t>Strategy</a:t>
            </a:r>
            <a:endParaRPr lang="pl-PL" dirty="0" err="1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1D02291B-5413-7B7D-569E-953E6C03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AD02C8AD-C918-46FD-CCD3-E2A0371EB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A954946-6ED0-02F1-FF22-2135A4116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25" y="2830480"/>
            <a:ext cx="11396183" cy="3207258"/>
          </a:xfrm>
        </p:spPr>
        <p:txBody>
          <a:bodyPr anchor="t">
            <a:normAutofit/>
          </a:bodyPr>
          <a:lstStyle/>
          <a:p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Elementy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AnalysisStrategy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TyreDegradationStrategy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ConsistencyScoreStrategy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UltimateLapStrategy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</a:p>
          <a:p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Dlaczego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 to ma </a:t>
            </a:r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sens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? </a:t>
            </a:r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Kontekst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 F1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Analityka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to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matematyka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Sposób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liczenia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"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formy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kierowcy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"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może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się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zmieniać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Raz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chcesz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analizować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degradację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opon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innym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razem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odchylenie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standardowe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czasów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okrążeń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(Consistency). </a:t>
            </a:r>
          </a:p>
          <a:p>
            <a:r>
              <a:rPr lang="en-US" sz="1700" b="1" err="1">
                <a:solidFill>
                  <a:schemeClr val="bg1"/>
                </a:solidFill>
                <a:ea typeface="+mn-lt"/>
                <a:cs typeface="+mn-lt"/>
              </a:rPr>
              <a:t>Uzasadnienie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Dzięki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Strategii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klasa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raportu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(np.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HeadToHeadReport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musi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wiedzieć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jak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liczone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są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statystyki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Możesz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wstrzyknąć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inną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strategię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w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locie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Spełnia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to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zasadę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Open/Closed Principle –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możesz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dodać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nową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analizę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(np. "Fuel Consumption") bez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dotykania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kodu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raportów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b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</a:br>
            <a:endParaRPr lang="en-US" sz="17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198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4CF44-B5F1-E823-D364-680C32ACF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F79BD3BA-240A-0104-9C64-9FFE405CD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ymbol zastępczy zawartości 3" descr="F1. Jeszcze szersza współpraca z Ferrari?">
            <a:extLst>
              <a:ext uri="{FF2B5EF4-FFF2-40B4-BE49-F238E27FC236}">
                <a16:creationId xmlns:a16="http://schemas.microsoft.com/office/drawing/2014/main" id="{B4E9A183-85FC-33D5-D147-FCE2068073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34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2" name="Rectangle 12">
            <a:extLst>
              <a:ext uri="{FF2B5EF4-FFF2-40B4-BE49-F238E27FC236}">
                <a16:creationId xmlns:a16="http://schemas.microsoft.com/office/drawing/2014/main" id="{3C8F00C0-A078-83FA-5F6E-43D0CD49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ytuł 1">
            <a:extLst>
              <a:ext uri="{FF2B5EF4-FFF2-40B4-BE49-F238E27FC236}">
                <a16:creationId xmlns:a16="http://schemas.microsoft.com/office/drawing/2014/main" id="{449E2FF3-BEBE-EF3A-8AEC-0B4F26DA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22" y="1161288"/>
            <a:ext cx="11339210" cy="1124712"/>
          </a:xfrm>
        </p:spPr>
        <p:txBody>
          <a:bodyPr anchor="b">
            <a:normAutofit/>
          </a:bodyPr>
          <a:lstStyle/>
          <a:p>
            <a:r>
              <a:rPr lang="pl-PL" sz="2800" dirty="0">
                <a:solidFill>
                  <a:schemeClr val="bg1"/>
                </a:solidFill>
                <a:ea typeface="+mj-lt"/>
                <a:cs typeface="+mj-lt"/>
              </a:rPr>
              <a:t>Wzorzec 4: </a:t>
            </a:r>
            <a:r>
              <a:rPr lang="pl-PL" sz="2800" dirty="0" err="1">
                <a:solidFill>
                  <a:schemeClr val="bg1"/>
                </a:solidFill>
                <a:ea typeface="+mj-lt"/>
                <a:cs typeface="+mj-lt"/>
              </a:rPr>
              <a:t>Composite</a:t>
            </a:r>
            <a:endParaRPr lang="pl-PL" dirty="0" err="1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FFAA0C10-262E-A37C-E7CF-0CAF56833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F57BFD0A-67CD-33A9-B3C4-73583C686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2C6FE78-AA1F-EA93-6EC8-4717F0B0B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25" y="2830480"/>
            <a:ext cx="11339969" cy="3207258"/>
          </a:xfrm>
        </p:spPr>
        <p:txBody>
          <a:bodyPr anchor="t">
            <a:normAutofit/>
          </a:bodyPr>
          <a:lstStyle/>
          <a:p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Elementy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TelemetryComposite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zawierający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Throttle, Brake, Gear). </a:t>
            </a:r>
          </a:p>
          <a:p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Dlaczego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 to ma </a:t>
            </a:r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sens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? </a:t>
            </a:r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Kontekst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 F1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Telemetria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jest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wielowymiarowa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Czasami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chcesz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przeanalizować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tylko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"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Hamowanie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", a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czasami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całe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"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Zachowanie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kierowcy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" (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które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składa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się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z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gazu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hamulca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biegów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łącznie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).</a:t>
            </a:r>
          </a:p>
          <a:p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Uzasadnienie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Kompozyt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pozwala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traktować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pojedynczy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obiekt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(np.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BrakeAnalysis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grupę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obiektów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TelemetryComposite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tak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samo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Klient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wywołuje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.calculate()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musi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wiedzieć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czy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pod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spodem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uruchamia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jeden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algorytm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czy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całe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drzewo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algorytmów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telemetrycznych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b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</a:br>
            <a:endParaRPr lang="en-US" sz="17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053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9CF54-77AC-1426-A660-5DF2F247A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2C1F66FA-BC0C-BEEE-A033-674D025D2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ymbol zastępczy zawartości 3" descr="F1. Jeszcze szersza współpraca z Ferrari?">
            <a:extLst>
              <a:ext uri="{FF2B5EF4-FFF2-40B4-BE49-F238E27FC236}">
                <a16:creationId xmlns:a16="http://schemas.microsoft.com/office/drawing/2014/main" id="{403DB862-3639-FCE7-1FB2-1218FC1760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34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2" name="Rectangle 12">
            <a:extLst>
              <a:ext uri="{FF2B5EF4-FFF2-40B4-BE49-F238E27FC236}">
                <a16:creationId xmlns:a16="http://schemas.microsoft.com/office/drawing/2014/main" id="{548D4779-1D38-3E56-43B2-45A45629E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ytuł 1">
            <a:extLst>
              <a:ext uri="{FF2B5EF4-FFF2-40B4-BE49-F238E27FC236}">
                <a16:creationId xmlns:a16="http://schemas.microsoft.com/office/drawing/2014/main" id="{E6DB5F2C-E01B-CB50-DE06-9059BF00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22" y="1161288"/>
            <a:ext cx="11251767" cy="1124712"/>
          </a:xfrm>
        </p:spPr>
        <p:txBody>
          <a:bodyPr anchor="b">
            <a:normAutofit/>
          </a:bodyPr>
          <a:lstStyle/>
          <a:p>
            <a:r>
              <a:rPr lang="pl-PL" sz="2800" dirty="0">
                <a:solidFill>
                  <a:schemeClr val="bg1"/>
                </a:solidFill>
                <a:ea typeface="+mj-lt"/>
                <a:cs typeface="+mj-lt"/>
              </a:rPr>
              <a:t>Wzorzec 5: </a:t>
            </a:r>
            <a:r>
              <a:rPr lang="pl-PL" sz="2800" dirty="0" err="1">
                <a:solidFill>
                  <a:schemeClr val="bg1"/>
                </a:solidFill>
                <a:ea typeface="+mj-lt"/>
                <a:cs typeface="+mj-lt"/>
              </a:rPr>
              <a:t>Facade</a:t>
            </a:r>
            <a:r>
              <a:rPr lang="pl-PL" sz="2800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endParaRPr lang="pl-PL" dirty="0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873B78AA-4B18-DB35-B1B0-3F14663C1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BCBBFA62-861D-A1CD-8FCC-5BB23D535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455692-DEB1-26EB-8BB6-5B2B7954F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25" y="2830480"/>
            <a:ext cx="11252527" cy="3207258"/>
          </a:xfrm>
        </p:spPr>
        <p:txBody>
          <a:bodyPr anchor="t">
            <a:normAutofit/>
          </a:bodyPr>
          <a:lstStyle/>
          <a:p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Elementy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F1DataFacade. </a:t>
            </a:r>
            <a:endParaRPr lang="pl-PL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700" b="1" err="1">
                <a:solidFill>
                  <a:schemeClr val="bg1"/>
                </a:solidFill>
                <a:ea typeface="+mn-lt"/>
                <a:cs typeface="+mn-lt"/>
              </a:rPr>
              <a:t>Dlaczego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 to ma </a:t>
            </a:r>
            <a:r>
              <a:rPr lang="en-US" sz="1700" b="1" err="1">
                <a:solidFill>
                  <a:schemeClr val="bg1"/>
                </a:solidFill>
                <a:ea typeface="+mn-lt"/>
                <a:cs typeface="+mn-lt"/>
              </a:rPr>
              <a:t>sens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? </a:t>
            </a:r>
            <a:r>
              <a:rPr lang="en-US" sz="1700" b="1" err="1">
                <a:solidFill>
                  <a:schemeClr val="bg1"/>
                </a:solidFill>
                <a:ea typeface="+mn-lt"/>
                <a:cs typeface="+mn-lt"/>
              </a:rPr>
              <a:t>Kontekst</a:t>
            </a:r>
            <a:r>
              <a:rPr lang="en-US" sz="1700" b="1" dirty="0">
                <a:solidFill>
                  <a:schemeClr val="bg1"/>
                </a:solidFill>
                <a:ea typeface="+mn-lt"/>
                <a:cs typeface="+mn-lt"/>
              </a:rPr>
              <a:t> F1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Biblioteki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do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danych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F1 (np. FastF1 w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Pythonie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są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skomplikowane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Trzeba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osobno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ładować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sesję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osobno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pogodę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osobno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telemetrię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samochodu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a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potem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to </a:t>
            </a:r>
            <a:r>
              <a:rPr lang="en-US" sz="1700" err="1">
                <a:solidFill>
                  <a:schemeClr val="bg1"/>
                </a:solidFill>
                <a:ea typeface="+mn-lt"/>
                <a:cs typeface="+mn-lt"/>
              </a:rPr>
              <a:t>synchronizować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endParaRPr lang="pl-PL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700" b="1" dirty="0" err="1">
                <a:solidFill>
                  <a:schemeClr val="bg1"/>
                </a:solidFill>
                <a:ea typeface="+mn-lt"/>
                <a:cs typeface="+mn-lt"/>
              </a:rPr>
              <a:t>Uzasadnienie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Fasada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ukrywa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ten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bałagan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Raport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prosi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tylko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o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get_session_data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().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Jeśli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w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przyszłości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zmienisz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źródło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danych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(np. z FastF1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na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oficjalne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API F1),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zmienisz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to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tylko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w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jednym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miejscu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(w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Fasadzie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), a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cała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reszta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systemu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Raporty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Strategie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)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pozostanie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bg1"/>
                </a:solidFill>
                <a:ea typeface="+mn-lt"/>
                <a:cs typeface="+mn-lt"/>
              </a:rPr>
              <a:t>nienaruszona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pl-PL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938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B47A3059-69F2-4E12-ACD8-A5FE28191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D76B7C4-742F-DCC4-1F23-3CA590558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5654" y="991443"/>
            <a:ext cx="4603001" cy="1087819"/>
          </a:xfrm>
        </p:spPr>
        <p:txBody>
          <a:bodyPr anchor="b">
            <a:normAutofit/>
          </a:bodyPr>
          <a:lstStyle/>
          <a:p>
            <a:r>
              <a:rPr lang="pl-PL" sz="3400"/>
              <a:t>Integracja wzorców</a:t>
            </a:r>
          </a:p>
        </p:txBody>
      </p:sp>
      <p:pic>
        <p:nvPicPr>
          <p:cNvPr id="4" name="Obraz 3" descr="Obraz zawierający zrzut ekranu, linia, szary, na wolnym powietrzu&#10;&#10;Zawartość wygenerowana przez AI może być niepoprawna.">
            <a:extLst>
              <a:ext uri="{FF2B5EF4-FFF2-40B4-BE49-F238E27FC236}">
                <a16:creationId xmlns:a16="http://schemas.microsoft.com/office/drawing/2014/main" id="{906F7F92-C354-BBBC-578D-C32CEF293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1645687"/>
            <a:ext cx="6250063" cy="3511271"/>
          </a:xfrm>
          <a:prstGeom prst="rect">
            <a:avLst/>
          </a:prstGeom>
        </p:spPr>
      </p:pic>
      <p:sp>
        <p:nvSpPr>
          <p:cNvPr id="20" name="Rectangle 1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383398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55" y="2285541"/>
            <a:ext cx="4526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ymbol zastępczy zawartości 2">
            <a:extLst>
              <a:ext uri="{FF2B5EF4-FFF2-40B4-BE49-F238E27FC236}">
                <a16:creationId xmlns:a16="http://schemas.microsoft.com/office/drawing/2014/main" id="{61FDC3B4-8587-BA91-6A96-51C902BC3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5654" y="2684095"/>
            <a:ext cx="4603001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l-PL" sz="1700">
                <a:latin typeface="Consolas"/>
              </a:rPr>
              <a:t>Facade</a:t>
            </a:r>
            <a:r>
              <a:rPr lang="pl-PL" sz="1700">
                <a:ea typeface="+mn-lt"/>
                <a:cs typeface="+mn-lt"/>
              </a:rPr>
              <a:t> pobiera dane.</a:t>
            </a:r>
            <a:endParaRPr lang="pl-PL" sz="1700"/>
          </a:p>
          <a:p>
            <a:r>
              <a:rPr lang="pl-PL" sz="1700">
                <a:latin typeface="Consolas"/>
              </a:rPr>
              <a:t>Factory</a:t>
            </a:r>
            <a:r>
              <a:rPr lang="pl-PL" sz="1700">
                <a:ea typeface="+mn-lt"/>
                <a:cs typeface="+mn-lt"/>
              </a:rPr>
              <a:t> tworzy odpowiedni raport.</a:t>
            </a:r>
            <a:endParaRPr lang="pl-PL" sz="1700"/>
          </a:p>
          <a:p>
            <a:r>
              <a:rPr lang="pl-PL" sz="1700">
                <a:latin typeface="Consolas"/>
              </a:rPr>
              <a:t>Template Method</a:t>
            </a:r>
            <a:r>
              <a:rPr lang="pl-PL" sz="1700">
                <a:ea typeface="+mn-lt"/>
                <a:cs typeface="+mn-lt"/>
              </a:rPr>
              <a:t> zarządza krokami raportu.</a:t>
            </a:r>
            <a:endParaRPr lang="pl-PL" sz="1700"/>
          </a:p>
          <a:p>
            <a:r>
              <a:rPr lang="pl-PL" sz="1700">
                <a:latin typeface="Consolas"/>
              </a:rPr>
              <a:t>Strategy</a:t>
            </a:r>
            <a:r>
              <a:rPr lang="pl-PL" sz="1700">
                <a:ea typeface="+mn-lt"/>
                <a:cs typeface="+mn-lt"/>
              </a:rPr>
              <a:t> (ewentualnie jako </a:t>
            </a:r>
            <a:r>
              <a:rPr lang="pl-PL" sz="1700">
                <a:latin typeface="Consolas"/>
              </a:rPr>
              <a:t>Composite</a:t>
            </a:r>
            <a:r>
              <a:rPr lang="pl-PL" sz="1700">
                <a:ea typeface="+mn-lt"/>
                <a:cs typeface="+mn-lt"/>
              </a:rPr>
              <a:t>) wykonuje obliczenia.</a:t>
            </a:r>
            <a:endParaRPr lang="pl-PL" sz="1700"/>
          </a:p>
          <a:p>
            <a:endParaRPr lang="pl-PL" sz="1700"/>
          </a:p>
        </p:txBody>
      </p:sp>
    </p:spTree>
    <p:extLst>
      <p:ext uri="{BB962C8B-B14F-4D97-AF65-F5344CB8AC3E}">
        <p14:creationId xmlns:p14="http://schemas.microsoft.com/office/powerpoint/2010/main" val="211045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BFBD03-AE9E-BFD2-5AFD-6ED63B98A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3" descr="Obraz zawierający ubrania, osoba, kreskówka, zabawka&#10;&#10;Zawartość wygenerowana przez AI może być niepoprawna.">
            <a:extLst>
              <a:ext uri="{FF2B5EF4-FFF2-40B4-BE49-F238E27FC236}">
                <a16:creationId xmlns:a16="http://schemas.microsoft.com/office/drawing/2014/main" id="{3690D0B8-C2E8-6ABD-0683-AD3EE00FC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37" y="57925"/>
            <a:ext cx="12126172" cy="673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5315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12</Slides>
  <Notes>1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3" baseType="lpstr">
      <vt:lpstr>AccentBoxVTI</vt:lpstr>
      <vt:lpstr>System analizy telemetrii i strategii wyścigowej Formuly 1</vt:lpstr>
      <vt:lpstr>Tech stack</vt:lpstr>
      <vt:lpstr>Cel i Funkcjonalność projektu</vt:lpstr>
      <vt:lpstr>Architektura Systemu</vt:lpstr>
      <vt:lpstr>Analityka w praktyce</vt:lpstr>
      <vt:lpstr>Wzorzec 1: Abstract Factory</vt:lpstr>
      <vt:lpstr>Wzorzec 2: Template Method </vt:lpstr>
      <vt:lpstr>Wzorzec 3: Strategy</vt:lpstr>
      <vt:lpstr>Wzorzec 4: Composite</vt:lpstr>
      <vt:lpstr>Wzorzec 5: Facade </vt:lpstr>
      <vt:lpstr>Integracja wzorców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206</cp:revision>
  <dcterms:created xsi:type="dcterms:W3CDTF">2025-12-18T13:45:51Z</dcterms:created>
  <dcterms:modified xsi:type="dcterms:W3CDTF">2025-12-18T20:43:15Z</dcterms:modified>
</cp:coreProperties>
</file>